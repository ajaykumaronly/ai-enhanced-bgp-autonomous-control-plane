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58368" y="658368"/>
            <a:ext cx="1261872" cy="0"/>
          </a:xfrm>
          <a:prstGeom prst="line">
            <a:avLst/>
          </a:prstGeom>
          <a:ln w="304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13232" y="941832"/>
            <a:ext cx="7498079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3200" b="1" i="0">
                <a:solidFill>
                  <a:srgbClr val="001F54"/>
                </a:solidFill>
                <a:latin typeface="Arial"/>
              </a:defRPr>
            </a:pPr>
            <a:r>
              <a:t>AI-Enhanced BGP</a:t>
            </a:r>
          </a:p>
          <a:p>
            <a:pPr algn="l">
              <a:spcAft>
                <a:spcPts val="300"/>
              </a:spcAft>
              <a:defRPr sz="3200" b="1" i="0">
                <a:solidFill>
                  <a:srgbClr val="001F54"/>
                </a:solidFill>
                <a:latin typeface="Arial"/>
              </a:defRPr>
            </a:pPr>
            <a:r>
              <a:t>Autonomous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70408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100" b="1" i="0">
                <a:solidFill>
                  <a:srgbClr val="005BBB"/>
                </a:solidFill>
                <a:latin typeface="Arial"/>
              </a:defRPr>
            </a:pPr>
            <a:r>
              <a:t>Final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90088"/>
            <a:ext cx="6766560" cy="2103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800" b="0" i="0">
                <a:solidFill>
                  <a:srgbClr val="141414"/>
                </a:solidFill>
                <a:latin typeface="Arial"/>
              </a:defRPr>
            </a:pPr>
            <a:r>
              <a:t>Sudalai Kumar M  —  2024503703</a:t>
            </a:r>
          </a:p>
          <a:p>
            <a:pPr algn="l">
              <a:spcAft>
                <a:spcPts val="300"/>
              </a:spcAft>
              <a:defRPr sz="1800" b="0" i="0">
                <a:solidFill>
                  <a:srgbClr val="141414"/>
                </a:solidFill>
                <a:latin typeface="Arial"/>
              </a:defRPr>
            </a:pPr>
            <a:r>
              <a:t>Ajay Kumar S  —  2024503701</a:t>
            </a:r>
          </a:p>
          <a:p>
            <a:pPr algn="l">
              <a:spcAft>
                <a:spcPts val="300"/>
              </a:spcAft>
              <a:defRPr sz="1800" b="0" i="0">
                <a:solidFill>
                  <a:srgbClr val="141414"/>
                </a:solidFill>
                <a:latin typeface="Arial"/>
              </a:defRPr>
            </a:pPr>
            <a:r>
              <a:t>Satlas Rohit B  —  2024503305</a:t>
            </a:r>
          </a:p>
          <a:p>
            <a:pPr algn="l">
              <a:spcAft>
                <a:spcPts val="300"/>
              </a:spcAft>
              <a:defRPr sz="1800" b="0" i="0">
                <a:solidFill>
                  <a:srgbClr val="141414"/>
                </a:solidFill>
                <a:latin typeface="Arial"/>
              </a:defRPr>
            </a:pPr>
            <a:r>
              <a:t>Srinivasan S  —  2024503707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188720"/>
            <a:ext cx="19659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500" b="1">
                <a:solidFill>
                  <a:srgbClr val="001F54"/>
                </a:solidFill>
                <a:latin typeface="Arial"/>
              </a:defRPr>
            </a:pPr>
            <a:r>
              <a:t>AS 65001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Transit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2743200"/>
            <a:ext cx="182880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AS 65003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Regional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738360" y="2743200"/>
            <a:ext cx="182880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AS 65004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Regional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4343400"/>
            <a:ext cx="16002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 65007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Stub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4343400"/>
            <a:ext cx="16002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 65008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Stub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78440" y="4343400"/>
            <a:ext cx="1325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 65009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Stub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366760" y="1920240"/>
            <a:ext cx="640080" cy="82296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64040" y="1920240"/>
            <a:ext cx="1051560" cy="82296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543800" y="3474720"/>
            <a:ext cx="594360" cy="86868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3474720"/>
            <a:ext cx="731520" cy="86868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07040" y="3474720"/>
            <a:ext cx="365760" cy="86868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8" y="6199632"/>
            <a:ext cx="10680192" cy="0"/>
          </a:xfrm>
          <a:prstGeom prst="line">
            <a:avLst/>
          </a:prstGeom>
          <a:ln w="10160">
            <a:solidFill>
              <a:srgbClr val="001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Problem Statement and 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56692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BGP route advertisements are exchanged between autonomous systems; a wrong or leaked route can redirect traffic or distort path selection.</a:t>
            </a:r>
          </a:p>
          <a:p>
            <a:pPr>
              <a:spcAft>
                <a:spcPts val="12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The project targets observable symptoms: origin-AS mismatch, suspicious sub-prefixes, route churn, long/changed AS paths, and valley-free violations.</a:t>
            </a:r>
          </a:p>
          <a:p>
            <a:pPr>
              <a:spcAft>
                <a:spcPts val="12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A detector alone is insufficient: mitigation must change the local policy and the resulting routing state must be checked.</a:t>
            </a:r>
          </a:p>
          <a:p>
            <a:pPr>
              <a:spcAft>
                <a:spcPts val="12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Implemented scope is a controlled FRRouting testbed with synthetic attacks and topology-local replays of selected historical incidents.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325880"/>
            <a:ext cx="425196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500" b="1">
                <a:solidFill>
                  <a:srgbClr val="001F54"/>
                </a:solidFill>
                <a:latin typeface="Arial"/>
              </a:defRPr>
            </a:pPr>
            <a:r>
              <a:t>Observe</a:t>
            </a:r>
          </a:p>
          <a:p>
            <a:pPr algn="ctr">
              <a:spcBef>
                <a:spcPts val="300"/>
              </a:spcBef>
              <a:defRPr sz="1200">
                <a:solidFill>
                  <a:srgbClr val="141414"/>
                </a:solidFill>
                <a:latin typeface="Arial"/>
              </a:defRPr>
            </a:pPr>
            <a:r>
              <a:t>Route + AS path + recent history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34272" y="2167128"/>
            <a:ext cx="0" cy="374904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903720" y="2542032"/>
            <a:ext cx="425196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500" b="1">
                <a:solidFill>
                  <a:srgbClr val="001F54"/>
                </a:solidFill>
                <a:latin typeface="Arial"/>
              </a:defRPr>
            </a:pPr>
            <a:r>
              <a:t>Assess</a:t>
            </a:r>
          </a:p>
          <a:p>
            <a:pPr algn="ctr">
              <a:spcBef>
                <a:spcPts val="300"/>
              </a:spcBef>
              <a:defRPr sz="1200">
                <a:solidFill>
                  <a:srgbClr val="141414"/>
                </a:solidFill>
                <a:latin typeface="Arial"/>
              </a:defRPr>
            </a:pPr>
            <a:r>
              <a:t>ML class + behavioural trust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34272" y="3383280"/>
            <a:ext cx="0" cy="374904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903720" y="3758184"/>
            <a:ext cx="425196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500" b="1">
                <a:solidFill>
                  <a:srgbClr val="001F54"/>
                </a:solidFill>
                <a:latin typeface="Arial"/>
              </a:defRPr>
            </a:pPr>
            <a:r>
              <a:t>Act and verify</a:t>
            </a:r>
          </a:p>
          <a:p>
            <a:pPr algn="ctr">
              <a:spcBef>
                <a:spcPts val="300"/>
              </a:spcBef>
              <a:defRPr sz="1200">
                <a:solidFill>
                  <a:srgbClr val="141414"/>
                </a:solidFill>
                <a:latin typeface="Arial"/>
              </a:defRPr>
            </a:pPr>
            <a:r>
              <a:t>FRR policy + RIB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4983480"/>
            <a:ext cx="40690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001F54"/>
                </a:solidFill>
                <a:latin typeface="Arial"/>
              </a:defRPr>
            </a:pPr>
            <a:r>
              <a:t>Engineering objective: close the loop, not just raise an alert.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Project Objectives and Scope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57784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Collect route and peer state from FRRouting and preserve time-ordered observations.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Convert each route observation into a fixed 10-feature behavioural vector.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Combine calibrated model output with explicit behavioural indicators and weighted trust.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Map decisions to local policy actions; use shadow validation and route-state checks in the full A4 variant.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t>•  Evaluate six configured scenarios, model quality, false actions, ablations and repeated trials.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234440"/>
            <a:ext cx="43434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500" b="1">
                <a:solidFill>
                  <a:srgbClr val="001F54"/>
                </a:solidFill>
                <a:latin typeface="Arial"/>
              </a:defRPr>
            </a:pPr>
            <a:r>
              <a:t>Testbed</a:t>
            </a:r>
          </a:p>
          <a:p>
            <a:pPr algn="ctr">
              <a:spcBef>
                <a:spcPts val="300"/>
              </a:spcBef>
              <a:defRPr sz="1200">
                <a:solidFill>
                  <a:srgbClr val="141414"/>
                </a:solidFill>
                <a:latin typeface="Arial"/>
              </a:defRPr>
            </a:pPr>
            <a:r>
              <a:t>FRRouting 10.2.1 in Docker-based environment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2280" y="2331720"/>
            <a:ext cx="43434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500" b="1">
                <a:solidFill>
                  <a:srgbClr val="001F54"/>
                </a:solidFill>
                <a:latin typeface="Arial"/>
              </a:defRPr>
            </a:pPr>
            <a:r>
              <a:t>Scenarios</a:t>
            </a:r>
          </a:p>
          <a:p>
            <a:pPr algn="ctr">
              <a:spcBef>
                <a:spcPts val="300"/>
              </a:spcBef>
              <a:defRPr sz="1200">
                <a:solidFill>
                  <a:srgbClr val="141414"/>
                </a:solidFill>
                <a:latin typeface="Arial"/>
              </a:defRPr>
            </a:pPr>
            <a:r>
              <a:t>S1–S6: hijack, sub-prefix, flapping, replayed incidents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3429000"/>
            <a:ext cx="43434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500" b="1">
                <a:solidFill>
                  <a:srgbClr val="001F54"/>
                </a:solidFill>
                <a:latin typeface="Arial"/>
              </a:defRPr>
            </a:pPr>
            <a:r>
              <a:t>Experiment variants</a:t>
            </a:r>
          </a:p>
          <a:p>
            <a:pPr algn="ctr">
              <a:spcBef>
                <a:spcPts val="300"/>
              </a:spcBef>
              <a:defRPr sz="1200">
                <a:solidFill>
                  <a:srgbClr val="141414"/>
                </a:solidFill>
                <a:latin typeface="Arial"/>
              </a:defRPr>
            </a:pPr>
            <a:r>
              <a:t>A0–A4: baseline → heuristics → ML → trust → full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4526280"/>
            <a:ext cx="43434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500" b="1">
                <a:solidFill>
                  <a:srgbClr val="001F54"/>
                </a:solidFill>
                <a:latin typeface="Arial"/>
              </a:defRPr>
            </a:pPr>
            <a:r>
              <a:t>Evidence boundary</a:t>
            </a:r>
          </a:p>
          <a:p>
            <a:pPr algn="ctr">
              <a:spcBef>
                <a:spcPts val="300"/>
              </a:spcBef>
              <a:defRPr sz="1200">
                <a:solidFill>
                  <a:srgbClr val="141414"/>
                </a:solidFill>
                <a:latin typeface="Arial"/>
              </a:defRPr>
            </a:pPr>
            <a:r>
              <a:t>Lab/testbed experiments; not Internet-wide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001F54"/>
                </a:solidFill>
                <a:latin typeface="Arial"/>
              </a:defRPr>
            </a:pPr>
            <a:r>
              <a:t>Scope is limited to the configured topology, observation vantage point, data and tested scenarios.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BGP Fundamentals and Threat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0060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001F54"/>
                </a:solidFill>
                <a:latin typeface="Arial"/>
              </a:defRPr>
            </a:pPr>
            <a:r>
              <a:t>What the controller reasons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4846320" cy="34747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t>•  Prefix: the destination network being advertised (for example, 192.0.2.0/24).</a:t>
            </a:r>
          </a:p>
          <a:p>
            <a:pPr>
              <a:spcAft>
                <a:spcPts val="9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t>•  AS path: ordered AS sequence carried with a route advertisement.</a:t>
            </a:r>
          </a:p>
          <a:p>
            <a:pPr>
              <a:spcAft>
                <a:spcPts val="9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t>•  Origin change and longer/more-specific prefixes are used as behavioural signals.</a:t>
            </a:r>
          </a:p>
          <a:p>
            <a:pPr>
              <a:spcAft>
                <a:spcPts val="9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t>•  Local Preference is a local policy attribute used to influence route choice.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98448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AS 65007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Legitimate origin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298448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AS 65010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Rogue origin in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4112" y="3063240"/>
            <a:ext cx="192024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 65003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Observation / decision point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2121408"/>
            <a:ext cx="868679" cy="941832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35440" y="2121408"/>
            <a:ext cx="822960" cy="941832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4251960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600" b="0" i="0">
                <a:solidFill>
                  <a:srgbClr val="141414"/>
                </a:solidFill>
                <a:latin typeface="Arial"/>
              </a:defRPr>
            </a:pPr>
            <a:r>
              <a:t>Threat cases configured: direct prefix hijack, /25 sub-prefix hijack, route-flapping burst, and route-leak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21808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001F54"/>
                </a:solidFill>
                <a:latin typeface="Arial"/>
              </a:defRPr>
            </a:pPr>
            <a:r>
              <a:t>Important: the project observes selected routes at a local vantage point; it does not have global visibility into every BGP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Existing Approach and Proposed System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15568"/>
            <a:ext cx="4754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001F54"/>
                </a:solidFill>
                <a:latin typeface="Arial"/>
              </a:defRPr>
            </a:pPr>
            <a:r>
              <a:t>Reference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4709160" cy="35661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t>•  Standard BGP: route selection without this project's detector or autonomous mitigation.</a:t>
            </a:r>
          </a:p>
          <a:p>
            <a:pPr>
              <a:spcAft>
                <a:spcPts val="10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t>•  Deterministic rules: interpretable checks on origin, prefix length, path and churn.</a:t>
            </a:r>
          </a:p>
          <a:p>
            <a:pPr>
              <a:spcAft>
                <a:spcPts val="10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t>•  RPKI-ROV baseline is represented in the comparative evaluator, but the tested route-leak cases are marked out of scope for origin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001F54"/>
                </a:solidFill>
                <a:latin typeface="Arial"/>
              </a:defRPr>
            </a:pPr>
            <a:r>
              <a:t>Implemented A0–A4 progression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27632"/>
            <a:ext cx="1051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700784"/>
            <a:ext cx="3794760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Standard BGP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39712" y="2139696"/>
            <a:ext cx="0" cy="219456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309360" y="2377440"/>
            <a:ext cx="1051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450592"/>
            <a:ext cx="3794760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BGP + Heuristics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39712" y="2889504"/>
            <a:ext cx="0" cy="219456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09360" y="3127248"/>
            <a:ext cx="1051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200400"/>
            <a:ext cx="3794760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BGP + ML only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39712" y="3639312"/>
            <a:ext cx="0" cy="219456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09360" y="3877056"/>
            <a:ext cx="1051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950208"/>
            <a:ext cx="3794760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ML + behavioural trust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39712" y="4389120"/>
            <a:ext cx="0" cy="219456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09360" y="4626864"/>
            <a:ext cx="1051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700016"/>
            <a:ext cx="3794760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ML + trust + shadow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515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001F54"/>
                </a:solidFill>
                <a:latin typeface="Arial"/>
              </a:defRPr>
            </a:pPr>
            <a:r>
              <a:t>Evaluation does not establish that ML is universally better: offline LR and the heuristic result match on the reported aggregate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874519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FRRouting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BGP peers / routes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325880"/>
            <a:ext cx="1874519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Telemetry collector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FRR CLI /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325880"/>
            <a:ext cx="1874519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History store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SQLite + JSONL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325880"/>
            <a:ext cx="1874519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Feature extractor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10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1325880"/>
            <a:ext cx="214884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Classifier + trust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Class, probability, score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79" y="1746504"/>
            <a:ext cx="320041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3440" y="1746504"/>
            <a:ext cx="32004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1746504"/>
            <a:ext cx="32004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59" y="1746504"/>
            <a:ext cx="320041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0120" y="315468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Decision engine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Reasons + class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15468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Shadow validator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Stage / accept / reject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315468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Policy engine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LocalPref / community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15468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RIB verification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Expected route state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965960" y="2167128"/>
            <a:ext cx="8476488" cy="987552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26080" y="3584448"/>
            <a:ext cx="50292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3584448"/>
            <a:ext cx="50292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3584448"/>
            <a:ext cx="50292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20640" y="4800600"/>
            <a:ext cx="24231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Rollback / recovery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Restore prior policy on failure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132320" y="4023360"/>
            <a:ext cx="2194560" cy="77724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920240" y="4023360"/>
            <a:ext cx="3200400" cy="1133856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5715000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001F54"/>
                </a:solidFill>
                <a:latin typeface="Arial"/>
              </a:defRPr>
            </a:pPr>
            <a:r>
              <a:t>Asynchronous control loops coordinate telemetry, inference, policy action, heartbeat and system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Network Topology and Experimental Environment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143000"/>
            <a:ext cx="18288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AS 65001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Transit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143000"/>
            <a:ext cx="18288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AS 65002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Transit core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63640" y="1463040"/>
            <a:ext cx="45720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57400" y="2743200"/>
            <a:ext cx="16002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 65003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Regional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743200"/>
            <a:ext cx="16002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 65004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Regional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743200"/>
            <a:ext cx="16002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 65005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Regional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2743200"/>
            <a:ext cx="16002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 65006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Regional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880360" y="1783080"/>
            <a:ext cx="2148840" cy="96012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937760" y="1783080"/>
            <a:ext cx="457200" cy="96012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223760" y="1783080"/>
            <a:ext cx="91440" cy="96012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35240" y="1783080"/>
            <a:ext cx="1691640" cy="96012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3000" y="4370832"/>
            <a:ext cx="1417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AS 65007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Stub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4370832"/>
            <a:ext cx="1417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AS 65008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Stub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4370832"/>
            <a:ext cx="1417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AS 65009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Stub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4370832"/>
            <a:ext cx="1417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AS 65010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Rogue test AS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874519" y="3401568"/>
            <a:ext cx="868681" cy="969264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63240" y="3401568"/>
            <a:ext cx="411480" cy="969264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37760" y="3401568"/>
            <a:ext cx="457200" cy="969264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052560" y="3401568"/>
            <a:ext cx="228600" cy="969264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58400" y="2377440"/>
            <a:ext cx="1463040" cy="2468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300" b="0" i="0">
                <a:solidFill>
                  <a:srgbClr val="141414"/>
                </a:solidFill>
                <a:latin typeface="Arial"/>
              </a:defRPr>
            </a:pPr>
            <a:r>
              <a:t>10 configured ASes</a:t>
            </a:r>
          </a:p>
          <a:p>
            <a:pPr algn="ctr">
              <a:spcAft>
                <a:spcPts val="300"/>
              </a:spcAft>
              <a:defRPr sz="1300" b="0" i="0">
                <a:solidFill>
                  <a:srgbClr val="141414"/>
                </a:solidFill>
                <a:latin typeface="Arial"/>
              </a:defRPr>
            </a:pPr>
            <a:endParaRPr/>
          </a:p>
          <a:p>
            <a:pPr algn="ctr">
              <a:spcAft>
                <a:spcPts val="300"/>
              </a:spcAft>
              <a:defRPr sz="1300" b="0" i="0">
                <a:solidFill>
                  <a:srgbClr val="141414"/>
                </a:solidFill>
                <a:latin typeface="Arial"/>
              </a:defRPr>
            </a:pPr>
            <a:r>
              <a:t>Docker / FRR 10.2.1</a:t>
            </a:r>
          </a:p>
          <a:p>
            <a:pPr algn="ctr">
              <a:spcAft>
                <a:spcPts val="300"/>
              </a:spcAft>
              <a:defRPr sz="1300" b="0" i="0">
                <a:solidFill>
                  <a:srgbClr val="141414"/>
                </a:solidFill>
                <a:latin typeface="Arial"/>
              </a:defRPr>
            </a:pPr>
            <a:endParaRPr/>
          </a:p>
          <a:p>
            <a:pPr algn="ctr">
              <a:spcAft>
                <a:spcPts val="300"/>
              </a:spcAft>
              <a:defRPr sz="1300" b="0" i="0">
                <a:solidFill>
                  <a:srgbClr val="141414"/>
                </a:solidFill>
                <a:latin typeface="Arial"/>
              </a:defRPr>
            </a:pPr>
            <a:r>
              <a:t>Python 3.13.5</a:t>
            </a:r>
          </a:p>
          <a:p>
            <a:pPr algn="ctr">
              <a:spcAft>
                <a:spcPts val="300"/>
              </a:spcAft>
              <a:defRPr sz="1300" b="0" i="0">
                <a:solidFill>
                  <a:srgbClr val="141414"/>
                </a:solidFill>
                <a:latin typeface="Arial"/>
              </a:defRPr>
            </a:pPr>
            <a:endParaRPr/>
          </a:p>
          <a:p>
            <a:pPr algn="ctr">
              <a:spcAft>
                <a:spcPts val="300"/>
              </a:spcAft>
              <a:defRPr sz="1300" b="0" i="0">
                <a:solidFill>
                  <a:srgbClr val="141414"/>
                </a:solidFill>
                <a:latin typeface="Arial"/>
              </a:defRPr>
            </a:pPr>
            <a:r>
              <a:t>Windows 11 test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424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Topology is a controlled lab; historical incidents are topology-local replays, not live Internet incidents.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Telemetry Collection and Feature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9659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FRR snapshot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Prefix, next hop, AS path,</a:t>
            </a:r>
            <a:br/>
            <a:r>
              <a:t>origin, LocalPref, peers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1691640"/>
            <a:ext cx="50292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154680" y="1234440"/>
            <a:ext cx="19659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Route history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Timestamped transitions</a:t>
            </a:r>
            <a:br/>
            <a:r>
              <a:t>(last 60 s / 5 min)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1691640"/>
            <a:ext cx="50292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623560" y="1234440"/>
            <a:ext cx="19659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Feature extractor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Baseline comparison +</a:t>
            </a:r>
            <a:br/>
            <a:r>
              <a:t>relationship checks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0" y="1691640"/>
            <a:ext cx="50292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92440" y="1234440"/>
            <a:ext cx="29718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10-value feature vector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Model input with fixed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19202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06040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as_path_len • as_path_edit_distance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72968"/>
            <a:ext cx="19202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Origin / prefix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172968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origin_as_change • prefix_mask_len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9896"/>
            <a:ext cx="19202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73989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announcements_per_minute • flap_count_5min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06824"/>
            <a:ext cx="19202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Policy / 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306824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loc_pref_current • route_age_seconds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19202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Relationship / peers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873752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valley_free_violation • neighbor_diversity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103327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Storage: SQLite tables for route events, peers, system metrics and convergence events; JSONL append log for route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Machine-Learning and Trust Assessment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210312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10 features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Scaled by saved scaler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88920" y="1664208"/>
            <a:ext cx="45720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46120" y="1234440"/>
            <a:ext cx="210312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Classifier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Random Forest or</a:t>
            </a:r>
            <a:br/>
            <a:r>
              <a:t>Logistic Regression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1664208"/>
            <a:ext cx="45720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806440" y="1234440"/>
            <a:ext cx="210312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4-way output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Normal / Suspicious /</a:t>
            </a:r>
            <a:br/>
            <a:r>
              <a:t>Leak / Hijack candidate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9560" y="1664208"/>
            <a:ext cx="45720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366760" y="1234440"/>
            <a:ext cx="256032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Trust score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Weighted behavioural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10515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001F54"/>
                </a:solidFill>
                <a:latin typeface="Arial"/>
              </a:defRPr>
            </a:pPr>
            <a:r>
              <a:t>Trust weights implemented in hybrid_engine.py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063240"/>
            <a:ext cx="31546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Origin stability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063240"/>
            <a:ext cx="31546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Path adherence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063240"/>
            <a:ext cx="31546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Flap quiescence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67912"/>
            <a:ext cx="31546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Prefix legitimacy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867912"/>
            <a:ext cx="31546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Peer consistency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867912"/>
            <a:ext cx="31546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ML normal probability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60704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41414"/>
                </a:solidFill>
                <a:latin typeface="Arial"/>
              </a:defRPr>
            </a:pPr>
            <a:r>
              <a:t>Offline test (109 samples): Random Forest accuracy 81.65%, macro-F1 0.4117; Logistic Regression accuracy 83.49%, macro-F1 0.4283. Both models miss all Suspicious (4) and Route Leak Candidate (7) test examples.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001F54"/>
                </a:solidFill>
                <a:latin typeface="Arial"/>
              </a:defRPr>
            </a:pPr>
            <a:r>
              <a:t>Model metrics are aggregate offline results; minority-class recall is the key limitation.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Anomaly Detection and Decision Logic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49377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001F54"/>
                </a:solidFill>
                <a:latin typeface="Arial"/>
              </a:defRPr>
            </a:pPr>
            <a:r>
              <a:t>Signals that generate diagnostic reasons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1874519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Origin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173736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origin_as_change &gt; 0.5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874519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Sub-prefix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46888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prefix mask length &gt; /24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08960"/>
            <a:ext cx="1874519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Route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320040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flap_count_5min ≥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40480"/>
            <a:ext cx="1874519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Path anomaly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393192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valley-free violation or edit distance ≥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48920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These reason tags explain the route context; classification ID comes from the selected model's argmax probability.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43891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Illustrative example — not an observed trial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Baseline origin 65007; observed origin 65010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2148840"/>
            <a:ext cx="0" cy="393192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0" y="2542032"/>
            <a:ext cx="43891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Feature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origin_as_change = 1; prefix/path context retained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0" y="3319272"/>
            <a:ext cx="0" cy="393191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0" y="3712463"/>
            <a:ext cx="43891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Assessment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ML class + weighted trust score + reason tags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" y="4489704"/>
            <a:ext cx="0" cy="393192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4882896"/>
            <a:ext cx="438912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300" b="1">
                <a:solidFill>
                  <a:srgbClr val="001F54"/>
                </a:solidFill>
                <a:latin typeface="Arial"/>
              </a:defRPr>
            </a:pPr>
            <a:r>
              <a:t>Policy mapping</a:t>
            </a:r>
          </a:p>
          <a:p>
            <a:pPr algn="ctr">
              <a:spcBef>
                <a:spcPts val="300"/>
              </a:spcBef>
              <a:defRPr sz="1000">
                <a:solidFill>
                  <a:srgbClr val="141414"/>
                </a:solidFill>
                <a:latin typeface="Arial"/>
              </a:defRPr>
            </a:pPr>
            <a:r>
              <a:t>Class and trust determine LocalPref / community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Policy Generation and Autonomous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001F54"/>
                </a:solidFill>
                <a:latin typeface="Arial"/>
              </a:defRPr>
            </a:pPr>
            <a:r>
              <a:t>Configured policy response 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27632"/>
            <a:ext cx="214884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627632"/>
            <a:ext cx="20116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LocalPref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737360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141414"/>
                </a:solidFill>
                <a:latin typeface="Arial"/>
              </a:defRPr>
            </a:pPr>
            <a:r>
              <a:t>No mitigation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14016"/>
            <a:ext cx="214884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Suspicious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2414016"/>
            <a:ext cx="20116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LocalPref 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23744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141414"/>
                </a:solidFill>
                <a:latin typeface="Arial"/>
              </a:defRPr>
            </a:pPr>
            <a:r>
              <a:t>Soft deprioritisation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214884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Route-leak candidate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3200400"/>
            <a:ext cx="20116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LocalPref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310128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141414"/>
                </a:solidFill>
                <a:latin typeface="Arial"/>
              </a:defRPr>
            </a:pPr>
            <a:r>
              <a:t>Hard deprioritisation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86784"/>
            <a:ext cx="214884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Prefix-hijack candidate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3986784"/>
            <a:ext cx="20116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LocalPref 0 + no-export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4096512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141414"/>
                </a:solidFill>
                <a:latin typeface="Arial"/>
              </a:defRPr>
            </a:pPr>
            <a:r>
              <a:t>Quarantine / suppress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133856"/>
            <a:ext cx="3931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001F54"/>
                </a:solidFill>
                <a:latin typeface="Arial"/>
              </a:defRPr>
            </a:pPr>
            <a:r>
              <a:t>Action sequence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1737360"/>
            <a:ext cx="3703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1. Decision engine emits class, confidence, trust and reasons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606039"/>
            <a:ext cx="3703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2. Policy engine maps the route to LocalPref / community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3474720"/>
            <a:ext cx="3703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3. FRR configuration is applied through vtysh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343400"/>
            <a:ext cx="370332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4. Return status is not the same as desired RIB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102412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001F54"/>
                </a:solidFill>
                <a:latin typeface="Arial"/>
              </a:defRPr>
            </a:pPr>
            <a:r>
              <a:t>Mitigation is a routing-policy change at the observing router; it does not globally remove an advertisement from the Internet.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Safety, Verification and Rollback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53619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Observe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Capture route +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30552" y="2377440"/>
            <a:ext cx="109728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240279" y="1828800"/>
            <a:ext cx="153619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Assess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Class / trust / reason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76472" y="2377440"/>
            <a:ext cx="109728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86200" y="1828800"/>
            <a:ext cx="153619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Shadow-stage candidate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22392" y="2377440"/>
            <a:ext cx="109728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532120" y="1828800"/>
            <a:ext cx="153619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Apply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Write FRR policy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8312" y="2377440"/>
            <a:ext cx="109728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78040" y="1828800"/>
            <a:ext cx="153619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Verify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Check route / RIB state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14232" y="2377440"/>
            <a:ext cx="109727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823960" y="1828800"/>
            <a:ext cx="153619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Monitor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Track sustained 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60152" y="2377440"/>
            <a:ext cx="109728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469880" y="1828800"/>
            <a:ext cx="153619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200" b="1">
                <a:solidFill>
                  <a:srgbClr val="001F54"/>
                </a:solidFill>
                <a:latin typeface="Arial"/>
              </a:defRPr>
            </a:pPr>
            <a:r>
              <a:t>Recover</a:t>
            </a:r>
          </a:p>
          <a:p>
            <a:pPr algn="ctr">
              <a:spcBef>
                <a:spcPts val="300"/>
              </a:spcBef>
              <a:defRPr sz="900">
                <a:solidFill>
                  <a:srgbClr val="141414"/>
                </a:solidFill>
                <a:latin typeface="Arial"/>
              </a:defRPr>
            </a:pPr>
            <a:r>
              <a:t>Rollback if verification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001F54"/>
                </a:solidFill>
                <a:latin typeface="Arial"/>
              </a:defRPr>
            </a:pPr>
            <a:r>
              <a:t>Why verification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4983480" cy="1371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 A successful CLI call only proves command acceptance.</a:t>
            </a:r>
          </a:p>
          <a:p>
            <a:pPr>
              <a:spcAft>
                <a:spcPts val="8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 The controller must compare observed RIB state with expected policy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474720"/>
            <a:ext cx="48463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001F54"/>
                </a:solidFill>
                <a:latin typeface="Arial"/>
              </a:defRPr>
            </a:pPr>
            <a:r>
              <a:t>Recovery behaviour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31920"/>
            <a:ext cx="4846320" cy="1371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 Previous policy/state can be restored by rollback support.</a:t>
            </a:r>
          </a:p>
          <a:p>
            <a:pPr>
              <a:spcAft>
                <a:spcPts val="8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 Test files cover shadow rejection, rollback and RIB verification; tests are not proof of Internet-scale resilience.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Experimental Setup and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48463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001F54"/>
                </a:solidFill>
                <a:latin typeface="Arial"/>
              </a:defRPr>
            </a:pPr>
            <a:r>
              <a:t>Full-system A4: 20 trials per scenario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69494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1F54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1F54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1F54"/>
                          </a:solidFill>
                          <a:latin typeface="Arial"/>
                        </a:defRPr>
                      </a:pPr>
                      <a:r>
                        <a:t>Detect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1F54"/>
                          </a:solidFill>
                          <a:latin typeface="Arial"/>
                        </a:defRPr>
                      </a:pPr>
                      <a:r>
                        <a:t>Mitigation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Direct prefix hijack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Sub-prefix /25 hijack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Route-flapping burst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S4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YouTube 2008 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S5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Google 2017 route 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S6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Cloudflare 2019 route 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0" y="1097280"/>
            <a:ext cx="3474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001F54"/>
                </a:solidFill>
                <a:latin typeface="Arial"/>
              </a:defRPr>
            </a:pPr>
            <a:r>
              <a:t>Normal-traffic stress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00200"/>
            <a:ext cx="3337560" cy="1280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1,000 attack-free windows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RF standalone: 3.2% false actions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Full A4: 3.2% false-action rate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Heuristics: 75% false alarms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200400"/>
            <a:ext cx="3337560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Offline model test (109 samples)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LR: 83.49% accuracy; macro-F1 0.4283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RF: 81.65% accuracy; macro-F1 0.4117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83480"/>
            <a:ext cx="106984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001F54"/>
                </a:solidFill>
                <a:latin typeface="Arial"/>
              </a:defRPr>
            </a:pPr>
            <a:r>
              <a:t>Interpretation: success depends strongly on scenario visibility and route selection. Three scenario classes show no detections in the 20-trial table. The attack-free stress test still records false mitigation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33872"/>
            <a:ext cx="106070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141414"/>
                </a:solidFill>
                <a:latin typeface="Arial"/>
              </a:defRPr>
            </a:pPr>
            <a:r>
              <a:t>MTTD/MTTM are reported only where detections occurred; N/A reflects no detection, not zero latency.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001F54"/>
                </a:solidFill>
                <a:latin typeface="Arial"/>
              </a:defRPr>
            </a:pPr>
            <a:r>
              <a:t>Limitations and Future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778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141414"/>
                </a:solidFill>
                <a:latin typeface="Arial"/>
              </a:defRPr>
            </a:pPr>
            <a:r>
              <a:t>AI-Enhanced BGP Autonomous Control Plane  |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50292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001F54"/>
                </a:solidFill>
                <a:latin typeface="Arial"/>
              </a:defRPr>
            </a:pPr>
            <a:r>
              <a:t>Demonstrated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83480" cy="4023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 Offline minority-class performance is poor: the reported RF and LR models miss all Suspicious and Route Leak Candidate test examples.</a:t>
            </a:r>
          </a:p>
          <a:p>
            <a:pPr>
              <a:spcAft>
                <a:spcPts val="10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 Full A4 detects none of the tested route-flapping burst or route-leak replay trials.</a:t>
            </a:r>
          </a:p>
          <a:p>
            <a:pPr>
              <a:spcAft>
                <a:spcPts val="10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 Failure analysis attributes many outcomes to observability / non-best-path selection at the monitoring vantage point.</a:t>
            </a:r>
          </a:p>
          <a:p>
            <a:pPr>
              <a:spcAft>
                <a:spcPts val="10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 False actions remain in attack-free traffic under the full-system stress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97280"/>
            <a:ext cx="50292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001F54"/>
                </a:solidFill>
                <a:latin typeface="Arial"/>
              </a:defRPr>
            </a:pPr>
            <a:r>
              <a:t>Practical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00200"/>
            <a:ext cx="5074920" cy="4023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 Expand telemetry beyond the selected best path where the platform allows it.</a:t>
            </a:r>
          </a:p>
          <a:p>
            <a:pPr>
              <a:spcAft>
                <a:spcPts val="10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 Improve minority-class labels, sample balance and evaluation methodology.</a:t>
            </a:r>
          </a:p>
          <a:p>
            <a:pPr>
              <a:spcAft>
                <a:spcPts val="10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 Test across more topologies and policy configurations, including route-leak visibility.</a:t>
            </a:r>
          </a:p>
          <a:p>
            <a:pPr>
              <a:spcAft>
                <a:spcPts val="10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 Tune staged actions against false-positive cost; keep post-action RIB checks and rollback.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3327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1F54"/>
                </a:solidFill>
                <a:latin typeface="Arial"/>
              </a:defRPr>
            </a:pPr>
            <a:r>
              <a:t>These are proposed improvements, not completed capabilities.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68680"/>
            <a:ext cx="75895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3000" b="1" i="0">
                <a:solidFill>
                  <a:srgbClr val="001F54"/>
                </a:solidFill>
                <a:latin typeface="Arial"/>
              </a:defRPr>
            </a:pPr>
            <a: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600200"/>
            <a:ext cx="10561320" cy="0"/>
          </a:xfrm>
          <a:prstGeom prst="line">
            <a:avLst/>
          </a:prstGeom>
          <a:ln w="2032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965960"/>
            <a:ext cx="6766560" cy="2286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t>The project integrates BGP telemetry, route-history features, model-based classification, behavioural trust and policy action in an FRRouting testbed.</a:t>
            </a:r>
          </a:p>
          <a:p>
            <a:pPr algn="l">
              <a:spcAft>
                <a:spcPts val="300"/>
              </a:spcAft>
              <a:defRPr sz="1900" b="0" i="0">
                <a:solidFill>
                  <a:srgbClr val="141414"/>
                </a:solidFill>
                <a:latin typeface="Arial"/>
              </a:defRPr>
            </a:pPr>
            <a:endParaRPr/>
          </a:p>
          <a:p>
            <a:pPr algn="l">
              <a:spcAft>
                <a:spcPts val="300"/>
              </a:spcAft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t>The experiments demonstrate useful responses for selected hijack scenarios—but also expose missed route leaks, missed flapping and false actions. Verification and rollback are therefore central to further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029200"/>
            <a:ext cx="50292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300" b="1" i="0">
                <a:solidFill>
                  <a:srgbClr val="005BBB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286000"/>
            <a:ext cx="214884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Observe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BGP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281160" y="3794760"/>
            <a:ext cx="214884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Act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Policy + 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3794760"/>
            <a:ext cx="182880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bIns="36576" rtlCol="0" anchor="ctr"/>
          <a:lstStyle/>
          <a:p>
            <a:pPr algn="ctr">
              <a:defRPr sz="1400" b="1">
                <a:solidFill>
                  <a:srgbClr val="001F54"/>
                </a:solidFill>
                <a:latin typeface="Arial"/>
              </a:defRPr>
            </a:pPr>
            <a:r>
              <a:t>Assess</a:t>
            </a:r>
          </a:p>
          <a:p>
            <a:pPr algn="ctr">
              <a:spcBef>
                <a:spcPts val="300"/>
              </a:spcBef>
              <a:defRPr sz="1100">
                <a:solidFill>
                  <a:srgbClr val="141414"/>
                </a:solidFill>
                <a:latin typeface="Arial"/>
              </a:defRPr>
            </a:pPr>
            <a:r>
              <a:t>Trust + class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09760" y="3063240"/>
            <a:ext cx="548640" cy="73152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869680" y="4160520"/>
            <a:ext cx="411480" cy="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909560" y="3063240"/>
            <a:ext cx="594360" cy="731520"/>
          </a:xfrm>
          <a:prstGeom prst="line">
            <a:avLst/>
          </a:prstGeom>
          <a:ln w="19050">
            <a:solidFill>
              <a:srgbClr val="005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" y="6199632"/>
            <a:ext cx="10625328" cy="0"/>
          </a:xfrm>
          <a:prstGeom prst="line">
            <a:avLst/>
          </a:prstGeom>
          <a:ln w="10160">
            <a:solidFill>
              <a:srgbClr val="001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1737</Words>
  <Application>Microsoft Office PowerPoint</Application>
  <PresentationFormat>Widescreen</PresentationFormat>
  <Paragraphs>308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AI-Enhanced BGP Autonomous Control Plane</dc:title>
  <dc:subject>Final academic project review</dc:subject>
  <dc:creator>Project Team</dc:creator>
  <cp:keywords>BGP, FRRouting, telemetry, machine learning, autonomous mitigation</cp:keywords>
  <dc:description>generated using python-pptx</dc:description>
  <cp:lastModifiedBy>Ajay Kumar</cp:lastModifiedBy>
  <cp:revision>2</cp:revision>
  <dcterms:created xsi:type="dcterms:W3CDTF">2013-01-27T09:14:16Z</dcterms:created>
  <dcterms:modified xsi:type="dcterms:W3CDTF">2026-10-23T13:36:13Z</dcterms:modified>
  <cp:category/>
</cp:coreProperties>
</file>